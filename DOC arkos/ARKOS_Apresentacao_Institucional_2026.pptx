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8006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pic>
        <p:nvPicPr>
          <p:cNvPr id="25" name="Image 0" descr="/home/claude/arkos-modulos/sym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457200"/>
            <a:ext cx="2377440" cy="261518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57200" y="5029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APRESENTACAO INSTITUCIONAL · 2026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57200" y="1005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4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Infraestrutura de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4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Inteligencia da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4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Nova Economia.</a:t>
            </a:r>
            <a:endParaRPr lang="en-US" sz="3800" dirty="0"/>
          </a:p>
        </p:txBody>
      </p:sp>
      <p:sp>
        <p:nvSpPr>
          <p:cNvPr id="28" name="Shape 25"/>
          <p:cNvSpPr/>
          <p:nvPr/>
        </p:nvSpPr>
        <p:spPr>
          <a:xfrm>
            <a:off x="457200" y="3456432"/>
            <a:ext cx="640080" cy="4572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35661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· INTELLIGENCE · DECISION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57200" y="3886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B2B SaaS · Enterprise Analytics · Marketing Intelligence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57200" y="4709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arkosintelligence.com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vamos cobrir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365760" cy="4572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4114800" cy="768096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53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13533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Estrutural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6642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 empresas perdem clareza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46320" y="1261872"/>
            <a:ext cx="4114800" cy="768096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35331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40680" y="13533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 a ARKOS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40680" y="166420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de inteligencia, nao software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4114800" cy="768096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40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22402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25511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dado bruto a decisao em 5 camadas integradas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46320" y="2148840"/>
            <a:ext cx="4114800" cy="768096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2402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40680" y="224028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 de Produtos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40680" y="25511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modulos que formam um ecossistema completo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" y="3035808"/>
            <a:ext cx="4114800" cy="768096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1272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" y="3127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34381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Letramento de dados como diferencial competitivo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46320" y="3035808"/>
            <a:ext cx="4114800" cy="768096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1272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40680" y="312724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e ICP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40680" y="343814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PME, Mid-Market e Enterprise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922776"/>
            <a:ext cx="4114800" cy="768096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0142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" y="40142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43251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hibrida e recorrente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846320" y="3922776"/>
            <a:ext cx="4114800" cy="768096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40142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40680" y="40142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Passos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40680" y="432511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comecar com a ARKOS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72D3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9194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ARKOS Intelligence · Confidencial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046720" y="49194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8006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— O PROBLEMA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4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as empresas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4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perdem clareza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457200" y="1508760"/>
            <a:ext cx="365760" cy="4572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6276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dores que se repetem em todo negocio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1993392"/>
            <a:ext cx="2651760" cy="2377440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1993392"/>
            <a:ext cx="2651760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1214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F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9436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Informacao Fragmentada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3090672"/>
            <a:ext cx="23957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espalhados em planilhas,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ERPs, CRMs e ferramentas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digitais sem conexao entre si.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1993392"/>
            <a:ext cx="2651760" cy="2377440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0" y="1993392"/>
            <a:ext cx="2651760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29000" y="21214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F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42900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Capacidade Analitica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29000" y="3090672"/>
            <a:ext cx="23957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existem mas nao se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transformam em entendimento.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ve pedacos do problema.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1993392"/>
            <a:ext cx="2651760" cy="2377440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0" y="1993392"/>
            <a:ext cx="2651760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212140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F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263640" y="2697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Decisao por Percepcao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63640" y="3090672"/>
            <a:ext cx="239572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modelagem, a gestao reage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passado em vez de prever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futuro. O ruido vence a evidencia.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462272"/>
            <a:ext cx="8229600" cy="384048"/>
          </a:xfrm>
          <a:prstGeom prst="rect">
            <a:avLst/>
          </a:prstGeom>
          <a:solidFill>
            <a:srgbClr val="1F242D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5171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783080" y="4517136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empresa investe mais, trabalha mais — e ainda assim nao sabe exatamente o que esta funcionando.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72D3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9194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ARKOS Intelligence · Confidencial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046720" y="49194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— O QUE E A ARKOS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4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Nao somos um software.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4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Somos infraestrutura.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5760" cy="4572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pic>
        <p:nvPicPr>
          <p:cNvPr id="5" name="Image 0" descr="/home/claude/arkos-modulos/sym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457200"/>
            <a:ext cx="2103120" cy="23134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874520"/>
            <a:ext cx="64008" cy="658368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1920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76656" y="221284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origem, o fundamento, o ponto de partida de tudo. O arche grego.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2697480"/>
            <a:ext cx="64008" cy="658368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6656" y="27432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76656" y="30358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que conecta pontos isolados de forma inquebravel.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57200" y="3520440"/>
            <a:ext cx="64008" cy="658368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" y="3566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Lideranca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76656" y="38587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guia que transforma complexidade em clareza e decisao executiva.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4343400"/>
            <a:ext cx="1591056" cy="411480"/>
          </a:xfrm>
          <a:prstGeom prst="rect">
            <a:avLst/>
          </a:prstGeom>
          <a:solidFill>
            <a:srgbClr val="1F242D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440740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VERDADE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212848" y="4343400"/>
            <a:ext cx="1591056" cy="411480"/>
          </a:xfrm>
          <a:prstGeom prst="rect">
            <a:avLst/>
          </a:prstGeom>
          <a:solidFill>
            <a:srgbClr val="1F242D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304288" y="440740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CONFIANCA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968496" y="4343400"/>
            <a:ext cx="1591056" cy="411480"/>
          </a:xfrm>
          <a:prstGeom prst="rect">
            <a:avLst/>
          </a:prstGeom>
          <a:solidFill>
            <a:srgbClr val="1F242D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59936" y="4407408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EVIDENCIA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72D3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9194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ARKOS Intelligence · Confidencial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8046720" y="49194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8006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— COMO FUNCIONA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4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dado bruto a decisao executiva em 5 camadas.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457200" y="1298448"/>
            <a:ext cx="365760" cy="4572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49040" y="1481328"/>
            <a:ext cx="1645920" cy="594360"/>
          </a:xfrm>
          <a:prstGeom prst="rect">
            <a:avLst/>
          </a:prstGeom>
          <a:solidFill>
            <a:srgbClr val="272D3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49040" y="1481328"/>
            <a:ext cx="64008" cy="59436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86200" y="1536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886200" y="17922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CRM, financeiro, marketing, operacoes, pesquisas e dados externos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57016" y="2167128"/>
            <a:ext cx="2029968" cy="594360"/>
          </a:xfrm>
          <a:prstGeom prst="rect">
            <a:avLst/>
          </a:prstGeom>
          <a:solidFill>
            <a:srgbClr val="1F242D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57016" y="2167128"/>
            <a:ext cx="64008" cy="59436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94176" y="2221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INTEGRACAO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94176" y="2478024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ETL, pipelines, governanca, data lake e data warehouse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364992" y="2852928"/>
            <a:ext cx="2414016" cy="594360"/>
          </a:xfrm>
          <a:prstGeom prst="rect">
            <a:avLst/>
          </a:prstGeom>
          <a:solidFill>
            <a:srgbClr val="1A2230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64992" y="2852928"/>
            <a:ext cx="64008" cy="59436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02152" y="2907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502152" y="3163824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Estatistica, ML, text analytics, web analytics, previsao e segmentacao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172968" y="3538728"/>
            <a:ext cx="2798064" cy="594360"/>
          </a:xfrm>
          <a:prstGeom prst="rect">
            <a:avLst/>
          </a:prstGeom>
          <a:solidFill>
            <a:srgbClr val="151A26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72968" y="3538728"/>
            <a:ext cx="64008" cy="59436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10128" y="3593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INTELIGENCIA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10128" y="3849624"/>
            <a:ext cx="2569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alertas, copilots e recomendacoes acionaveis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980944" y="4224528"/>
            <a:ext cx="3182112" cy="594360"/>
          </a:xfrm>
          <a:prstGeom prst="rect">
            <a:avLst/>
          </a:prstGeom>
          <a:solidFill>
            <a:srgbClr val="0F1420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80944" y="4224528"/>
            <a:ext cx="64008" cy="59436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18104" y="42793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DECISAO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3118104" y="4535424"/>
            <a:ext cx="2953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Planejamento, execucao, growth, eficiencia e expansao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72D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9194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ARKOS Intelligence · Confidencial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8046720" y="49194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— SUITE DE PRODUTOS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modulos. 1 ecossistema.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65760" cy="4572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697480" cy="1572768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697480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Arkos Data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84708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warehouse, APIs, pipelines,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e governanca.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97480" cy="1572768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280160"/>
            <a:ext cx="2697480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4173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Arkos Systems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0" y="184708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CRM, contratos, documentos,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e logistica integrados.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97480" cy="1572768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17920" y="1280160"/>
            <a:ext cx="2697480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41732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Arkos Mktg Intelligence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55080" y="184708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Satisfacao, mercado, digital,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marca, growth e funil.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2697480" cy="1572768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017520"/>
            <a:ext cx="2697480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154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Arkos AI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35844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Copilots executivos, previsao,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 automacao prescritiva.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3017520"/>
            <a:ext cx="2697480" cy="1572768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37560" y="3017520"/>
            <a:ext cx="2697480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3154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Arkos Strategy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74720" y="35844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negocio, planejamento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estrategico e cenarios.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3017520"/>
            <a:ext cx="2697480" cy="1572768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017520"/>
            <a:ext cx="2697480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1546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Arkos Academy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55080" y="358444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Letramento de dados, trilhas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formacao de gestores.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modulo resolve uma camada critica. Juntos, formam uma arquitetura com alto switching cost.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72D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9194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ARKOS Intelligence · Confidencial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046720" y="49194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8006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— METODOLOGIA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4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Letramento de Dados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4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Grande Diferencial ARKOS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457200" y="1463040"/>
            <a:ext cx="365760" cy="4572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1572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entregamos dashboards. Entregamos autonomia.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1920240"/>
            <a:ext cx="1993392" cy="2377440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1920240"/>
            <a:ext cx="1993392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0299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F542">
                    <a:alpha val="6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594360" y="26334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Diagnostico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297180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Mapeamos como o cliente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 dados hoje.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450592" y="3108960"/>
            <a:ext cx="182880" cy="0"/>
          </a:xfrm>
          <a:prstGeom prst="line">
            <a:avLst/>
          </a:prstGeom>
          <a:noFill/>
          <a:ln w="12700">
            <a:solidFill>
              <a:srgbClr val="C8F5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33472" y="1920240"/>
            <a:ext cx="1993392" cy="2377440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33472" y="1920240"/>
            <a:ext cx="1993392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70632" y="20299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F542">
                    <a:alpha val="6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37" name="Text 35"/>
          <p:cNvSpPr/>
          <p:nvPr/>
        </p:nvSpPr>
        <p:spPr>
          <a:xfrm>
            <a:off x="2770632" y="26334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770632" y="297180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Centralizamos fontes em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governado.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26864" y="3108960"/>
            <a:ext cx="182880" cy="0"/>
          </a:xfrm>
          <a:prstGeom prst="line">
            <a:avLst/>
          </a:prstGeom>
          <a:noFill/>
          <a:ln w="12700">
            <a:solidFill>
              <a:srgbClr val="C8F54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9744" y="1920240"/>
            <a:ext cx="1993392" cy="2377440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9744" y="1920240"/>
            <a:ext cx="1993392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46904" y="20299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F542">
                    <a:alpha val="6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4946904" y="26334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Visualizacao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46904" y="297180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dark mode,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focado em usabilidade.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03136" y="3108960"/>
            <a:ext cx="182880" cy="0"/>
          </a:xfrm>
          <a:prstGeom prst="line">
            <a:avLst/>
          </a:prstGeom>
          <a:noFill/>
          <a:ln w="12700">
            <a:solidFill>
              <a:srgbClr val="C8F54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86016" y="1920240"/>
            <a:ext cx="1993392" cy="2377440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86016" y="1920240"/>
            <a:ext cx="1993392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23176" y="20299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F542">
                    <a:alpha val="65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49" name="Text 47"/>
          <p:cNvSpPr/>
          <p:nvPr/>
        </p:nvSpPr>
        <p:spPr>
          <a:xfrm>
            <a:off x="7123176" y="2633472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Letramento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123176" y="2971800"/>
            <a:ext cx="1719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interpreta</a:t>
            </a:r>
            <a:endParaRPr lang="en-US" sz="9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decide sozinho.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" y="4370832"/>
            <a:ext cx="8229600" cy="402336"/>
          </a:xfrm>
          <a:prstGeom prst="rect">
            <a:avLst/>
          </a:prstGeom>
          <a:solidFill>
            <a:srgbClr val="1F242D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" y="44256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 final: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103120" y="44256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nao precisa mais de nos para entender o negocio dele. Esse e o nosso maior sucesso.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72D3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49194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ARKOS Intelligence · Confidencial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8046720" y="49194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— MERCADO E ICP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compra e por que compra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365760" cy="4572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98448"/>
            <a:ext cx="2697480" cy="3383280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2697480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44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013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R$ 2k-8k/mes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103120"/>
            <a:ext cx="2423160" cy="0"/>
          </a:xfrm>
          <a:prstGeom prst="line">
            <a:avLst/>
          </a:prstGeom>
          <a:noFill/>
          <a:ln w="5080">
            <a:solidFill>
              <a:srgbClr val="272D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945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gestao, dados,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e financas com time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 reduzido.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3108960"/>
            <a:ext cx="2423160" cy="0"/>
          </a:xfrm>
          <a:prstGeom prst="line">
            <a:avLst/>
          </a:prstGeom>
          <a:noFill/>
          <a:ln w="5080">
            <a:solidFill>
              <a:srgbClr val="272D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20040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Entrada: Marketing Intelligence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Expansao: Systems + Data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37560" y="1298448"/>
            <a:ext cx="2697480" cy="3383280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1298448"/>
            <a:ext cx="2697480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1444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18013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R$ 8k-25k/mes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2103120"/>
            <a:ext cx="2423160" cy="0"/>
          </a:xfrm>
          <a:prstGeom prst="line">
            <a:avLst/>
          </a:prstGeom>
          <a:noFill/>
          <a:ln w="5080">
            <a:solidFill>
              <a:srgbClr val="272D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1945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sistemas legados,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acelerarmarketing 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profissionalizar decisoes.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0" y="3108960"/>
            <a:ext cx="2423160" cy="0"/>
          </a:xfrm>
          <a:prstGeom prst="line">
            <a:avLst/>
          </a:prstGeom>
          <a:noFill/>
          <a:ln w="5080">
            <a:solidFill>
              <a:srgbClr val="272D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320040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Entrada: Data + Dashboards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Expansao: AI + Strategy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17920" y="1298448"/>
            <a:ext cx="2697480" cy="3383280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298448"/>
            <a:ext cx="2697480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444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18013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R$ 25k+/mes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55080" y="2103120"/>
            <a:ext cx="2423160" cy="0"/>
          </a:xfrm>
          <a:prstGeom prst="line">
            <a:avLst/>
          </a:prstGeom>
          <a:noFill/>
          <a:ln w="5080">
            <a:solidFill>
              <a:srgbClr val="272D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21945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areas, melhorar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governanca de dados e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IA a operacoes.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55080" y="3108960"/>
            <a:ext cx="2423160" cy="0"/>
          </a:xfrm>
          <a:prstGeom prst="line">
            <a:avLst/>
          </a:prstGeom>
          <a:noFill/>
          <a:ln w="5080">
            <a:solidFill>
              <a:srgbClr val="272D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320040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Entrada: Systems + AI</a:t>
            </a:r>
            <a:endParaRPr lang="en-US" sz="8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5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Expansao: Full Platform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 que comeca com um modulo raramente sai. O switching cost cresce com cada dado integrado.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72D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9194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ARKOS Intelligence · Confidencial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046720" y="49194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8006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— MODELO DE NEGOCIO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Receita Hibrida e Recorrente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457200" y="1078992"/>
            <a:ext cx="365760" cy="4572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1298448"/>
            <a:ext cx="2697480" cy="1481328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14081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RECEITA UNICA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94360" y="1645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IMPLANTACAO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4360" y="1975104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Diagnostico, arquitetura,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integracao inicial.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37560" y="1298448"/>
            <a:ext cx="2697480" cy="1481328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0" y="14081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RECORRENTE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474720" y="1645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MENSAL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0" y="1975104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base, usuarios,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e suporte.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17920" y="1298448"/>
            <a:ext cx="2697480" cy="1481328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55080" y="140817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UPSELL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355080" y="16459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MODULOS PREMIUM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55080" y="1975104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Intelligence,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Copilots, Forecasting.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901952" y="2944368"/>
            <a:ext cx="2697480" cy="1481328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39112" y="30540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ALTO TICKET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039112" y="3291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SERVICOS DE VALOR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039112" y="3621024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estrategico,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e advisory.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82312" y="2944368"/>
            <a:ext cx="2697480" cy="1481328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30540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EXPANSAO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919472" y="329184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ARKOS ACADEMY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919472" y="3621024"/>
            <a:ext cx="2423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Formacao, trilhas,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certificacao interna.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57200" y="44622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F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&gt;120%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457200" y="484632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NRR Target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337560" y="44622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F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&gt;5x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3337560" y="484632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LTV/CAC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17920" y="44622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F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&lt;12m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6217920" y="484632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Payback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72D3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49194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ARKOS Intelligence · Confidencial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046720" y="49194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MOAT — VANTAGEM COMPETITIVA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4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a ARKOS e dificil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4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substituir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65760" cy="4572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37360"/>
            <a:ext cx="4023360" cy="2633472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288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CONCORRENTE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331720" y="18288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LIMITACAO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94360" y="2075688"/>
            <a:ext cx="3749040" cy="0"/>
          </a:xfrm>
          <a:prstGeom prst="line">
            <a:avLst/>
          </a:prstGeom>
          <a:noFill/>
          <a:ln w="6350">
            <a:solidFill>
              <a:srgbClr val="272D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128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31720" y="221284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Estrategia, mas nao tem produto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4360" y="2651760"/>
            <a:ext cx="3749040" cy="0"/>
          </a:xfrm>
          <a:prstGeom prst="line">
            <a:avLst/>
          </a:prstGeom>
          <a:noFill/>
          <a:ln w="3810">
            <a:solidFill>
              <a:srgbClr val="272D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2491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Softwares de BI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31720" y="27249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Dados, mas sem camada estrategica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3163824"/>
            <a:ext cx="3749040" cy="0"/>
          </a:xfrm>
          <a:prstGeom prst="line">
            <a:avLst/>
          </a:prstGeom>
          <a:noFill/>
          <a:ln w="3810">
            <a:solidFill>
              <a:srgbClr val="272D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369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Agencias Marketing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31720" y="323697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Execucao, mas sem integracao dados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3675888"/>
            <a:ext cx="3749040" cy="0"/>
          </a:xfrm>
          <a:prstGeom prst="line">
            <a:avLst/>
          </a:prstGeom>
          <a:noFill/>
          <a:ln w="3810">
            <a:solidFill>
              <a:srgbClr val="272D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490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ERPs / CRMs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31720" y="374904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Sistemas, mas sem analytics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737360"/>
            <a:ext cx="64008" cy="54864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9744" y="177393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vendemos software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9744" y="20391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Vendemos inteligencia analitica aplicada ao negocio.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2423160"/>
            <a:ext cx="64008" cy="54864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245973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entregamos relatorios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9744" y="27249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Entregamos decisoes fundamentadas em evidencia.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3108960"/>
            <a:ext cx="64008" cy="54864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9744" y="314553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somos ferramenta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9744" y="34107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Somos a camada que conecta dados, estrategia e acao.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3794760"/>
            <a:ext cx="64008" cy="54864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383133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Nao geramos dependencia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09744" y="409651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Geramos letramento: o cliente decide sozinho.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72D3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9194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ARKOS Intelligence · Confidencial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046720" y="49194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8006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ROADMAP DE EXECUCAO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 Prova de Conceito a Escala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457200" y="1078992"/>
            <a:ext cx="365760" cy="4572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0" y="1298448"/>
            <a:ext cx="1828800" cy="749808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1298448"/>
            <a:ext cx="64008" cy="749808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22192" y="1408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251960" y="138988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Marketing Intelligence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51960" y="1719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Meses 1-6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377440" y="17190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clientes ancora · NPS &gt; 70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419856" y="2139696"/>
            <a:ext cx="2304288" cy="749808"/>
          </a:xfrm>
          <a:prstGeom prst="rect">
            <a:avLst/>
          </a:prstGeom>
          <a:solidFill>
            <a:srgbClr val="151C2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19856" y="2139696"/>
            <a:ext cx="64008" cy="749808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84448" y="2249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014216" y="2231136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Data + Dashboards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014216" y="256032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Meses 6-12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615184" y="2560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Expansao de conta · ARR R$500k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182112" y="2980944"/>
            <a:ext cx="2779776" cy="749808"/>
          </a:xfrm>
          <a:prstGeom prst="rect">
            <a:avLst/>
          </a:prstGeom>
          <a:solidFill>
            <a:srgbClr val="1A2232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182112" y="2980944"/>
            <a:ext cx="64008" cy="749808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46704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3776472" y="3072384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Systems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776472" y="340156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 2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852928" y="34015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NRR &gt; 120% · 50 clientes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944368" y="3822192"/>
            <a:ext cx="3255264" cy="749808"/>
          </a:xfrm>
          <a:prstGeom prst="rect">
            <a:avLst/>
          </a:prstGeom>
          <a:solidFill>
            <a:srgbClr val="1F283C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44368" y="3822192"/>
            <a:ext cx="64008" cy="749808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0896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F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3538728" y="3913632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4 — AI Copilots + Academy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538728" y="42428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 3+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090672" y="424281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R$5M · Expansao nacional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fase aumenta o switching cost e aprofunda a relacao com o cliente.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72D3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9194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ARKOS Intelligence · Confidencial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046720" y="49194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— EQUIPE FUNDADORA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4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Negocios, Tecnologia,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4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Dados e Mercado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65760" cy="45720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719072"/>
            <a:ext cx="1993392" cy="2606040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19072"/>
            <a:ext cx="1993392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65376"/>
            <a:ext cx="530352" cy="530352"/>
          </a:xfrm>
          <a:prstGeom prst="oval">
            <a:avLst/>
          </a:prstGeom>
          <a:solidFill>
            <a:srgbClr val="272D38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653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Renato Assis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76148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Co-Founder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297180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Estrategia &amp; Data Science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94360" y="3200400"/>
            <a:ext cx="1719072" cy="0"/>
          </a:xfrm>
          <a:prstGeom prst="line">
            <a:avLst/>
          </a:prstGeom>
          <a:noFill/>
          <a:ln w="5080">
            <a:solidFill>
              <a:srgbClr val="272D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9184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 negocios, economia e ciencia de dados aplicada a gestao empresarial.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633472" y="1719072"/>
            <a:ext cx="1993392" cy="2606040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33472" y="1719072"/>
            <a:ext cx="1993392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70632" y="1865376"/>
            <a:ext cx="530352" cy="530352"/>
          </a:xfrm>
          <a:prstGeom prst="oval">
            <a:avLst/>
          </a:prstGeom>
          <a:solidFill>
            <a:srgbClr val="272D38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70632" y="18653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70632" y="24688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Emmanuel Peixoto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70632" y="276148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Co-Founder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70632" y="297180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Tecnologia &amp; Arquitetura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70632" y="3200400"/>
            <a:ext cx="1719072" cy="0"/>
          </a:xfrm>
          <a:prstGeom prst="line">
            <a:avLst/>
          </a:prstGeom>
          <a:noFill/>
          <a:ln w="5080">
            <a:solidFill>
              <a:srgbClr val="272D3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70632" y="329184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tecnologica, desenvolvimento de plataforma e engenharia de sistemas.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09744" y="1719072"/>
            <a:ext cx="1993392" cy="2606040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9744" y="1719072"/>
            <a:ext cx="1993392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46904" y="1865376"/>
            <a:ext cx="530352" cy="530352"/>
          </a:xfrm>
          <a:prstGeom prst="oval">
            <a:avLst/>
          </a:prstGeom>
          <a:solidFill>
            <a:srgbClr val="272D38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46904" y="18653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46904" y="24688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Mamede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46904" y="276148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Co-Founder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46904" y="297180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 &amp; Modelagem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946904" y="3200400"/>
            <a:ext cx="1719072" cy="0"/>
          </a:xfrm>
          <a:prstGeom prst="line">
            <a:avLst/>
          </a:prstGeom>
          <a:noFill/>
          <a:ln w="5080">
            <a:solidFill>
              <a:srgbClr val="272D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46904" y="329184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Ciencia de dados, analytics avancado e modelagem preditiva para negocios.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986016" y="1719072"/>
            <a:ext cx="1993392" cy="2606040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86016" y="1719072"/>
            <a:ext cx="1993392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23176" y="1865376"/>
            <a:ext cx="530352" cy="530352"/>
          </a:xfrm>
          <a:prstGeom prst="oval">
            <a:avLst/>
          </a:prstGeom>
          <a:solidFill>
            <a:srgbClr val="272D38"/>
          </a:solidFill>
          <a:ln w="12700">
            <a:solidFill>
              <a:srgbClr val="C8F5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23176" y="18653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JC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23176" y="2468880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Cesar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123176" y="2761488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F5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Co-Founder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123176" y="2971800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Inteligencia de Mercado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123176" y="3200400"/>
            <a:ext cx="1719072" cy="0"/>
          </a:xfrm>
          <a:prstGeom prst="line">
            <a:avLst/>
          </a:prstGeom>
          <a:noFill/>
          <a:ln w="5080">
            <a:solidFill>
              <a:srgbClr val="272D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23176" y="3291840"/>
            <a:ext cx="1719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A8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de mercado, desenvolvimento de negocios e expansao comercial.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57200" y="47091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5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equipe construida para resolver o problema inteiro — nao apenas uma parte dele.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6350">
            <a:solidFill>
              <a:srgbClr val="272D3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9194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ARKOS Intelligence · Confidencial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046720" y="49194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C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0" y="0"/>
            <a:ext cx="0" cy="514350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20574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4800600"/>
            <a:ext cx="9144000" cy="0"/>
          </a:xfrm>
          <a:prstGeom prst="line">
            <a:avLst/>
          </a:prstGeom>
          <a:noFill/>
          <a:ln w="3810">
            <a:solidFill>
              <a:srgbClr val="C8F542">
                <a:alpha val="6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F542"/>
          </a:solidFill>
          <a:ln w="12700">
            <a:solidFill>
              <a:srgbClr val="C8F542"/>
            </a:solidFill>
            <a:prstDash val="solid"/>
          </a:ln>
        </p:spPr>
      </p:sp>
      <p:pic>
        <p:nvPicPr>
          <p:cNvPr id="25" name="Image 0" descr="/home/claude/arkos-modulos/sym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457200"/>
            <a:ext cx="1828800" cy="20116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F4F2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"Do dado bruto a decisao executiva."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457200" y="3218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8A8F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· INTELLIGENCE · DECISION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371600" y="3730752"/>
            <a:ext cx="2103120" cy="621792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481328" y="3794760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828800" y="384048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Diagnostico gratuito de 30 min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749040" y="3730752"/>
            <a:ext cx="2103120" cy="621792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58768" y="3794760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206240" y="384048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customizada por segmento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6126480" y="3730752"/>
            <a:ext cx="2103120" cy="621792"/>
          </a:xfrm>
          <a:prstGeom prst="rect">
            <a:avLst/>
          </a:prstGeom>
          <a:solidFill>
            <a:srgbClr val="111318"/>
          </a:solidFill>
          <a:ln w="6350">
            <a:solidFill>
              <a:srgbClr val="272D3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236208" y="3794760"/>
            <a:ext cx="320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5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583680" y="384048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4F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com modulo de entrada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457200" y="4480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contato@arkosintelligence.com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57200" y="46817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5F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arkosintelligence.com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ARKOS — Apresentacao Institucional 2026</dc:title>
  <dc:subject>PptxGenJS Presentation</dc:subject>
  <dc:creator>ARKOS Intelligence</dc:creator>
  <cp:lastModifiedBy>ARKOS Intelligence</cp:lastModifiedBy>
  <cp:revision>1</cp:revision>
  <dcterms:created xsi:type="dcterms:W3CDTF">2026-03-18T05:41:03Z</dcterms:created>
  <dcterms:modified xsi:type="dcterms:W3CDTF">2026-03-18T05:41:03Z</dcterms:modified>
</cp:coreProperties>
</file>